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Lst>
  <p:sldSz cy="10689325" cx="75621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367">
          <p15:clr>
            <a:srgbClr val="A4A3A4"/>
          </p15:clr>
        </p15:guide>
        <p15:guide id="2" pos="2382">
          <p15:clr>
            <a:srgbClr val="A4A3A4"/>
          </p15:clr>
        </p15:guide>
      </p15:sldGuideLst>
    </p:ext>
    <p:ext uri="GoogleSlidesCustomDataVersion2">
      <go:slidesCustomData xmlns:go="http://customooxmlschemas.google.com/" r:id="rId8" roundtripDataSignature="AMtx7mi4/DCFm5tq47DSMGVOzT5yfHIYt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367" orient="horz"/>
        <p:guide pos="2382"/>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16410" y="685800"/>
            <a:ext cx="24258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2216410" y="685800"/>
            <a:ext cx="24258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2:notes"/>
          <p:cNvSpPr/>
          <p:nvPr>
            <p:ph idx="2" type="sldImg"/>
          </p:nvPr>
        </p:nvSpPr>
        <p:spPr>
          <a:xfrm>
            <a:off x="2216410" y="685800"/>
            <a:ext cx="24258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 name="Google Shape;6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4"/>
          <p:cNvSpPr txBox="1"/>
          <p:nvPr>
            <p:ph idx="12" type="sldNum"/>
          </p:nvPr>
        </p:nvSpPr>
        <p:spPr>
          <a:xfrm>
            <a:off x="7006734" y="9691191"/>
            <a:ext cx="453900" cy="8181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5"/>
          <p:cNvSpPr txBox="1"/>
          <p:nvPr>
            <p:ph type="ctrTitle"/>
          </p:nvPr>
        </p:nvSpPr>
        <p:spPr>
          <a:xfrm>
            <a:off x="257783" y="1547391"/>
            <a:ext cx="7046400" cy="4265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3" name="Google Shape;13;p5"/>
          <p:cNvSpPr txBox="1"/>
          <p:nvPr>
            <p:ph idx="1" type="subTitle"/>
          </p:nvPr>
        </p:nvSpPr>
        <p:spPr>
          <a:xfrm>
            <a:off x="257776" y="5889935"/>
            <a:ext cx="7046400" cy="1647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4" name="Google Shape;14;p5"/>
          <p:cNvSpPr txBox="1"/>
          <p:nvPr>
            <p:ph idx="12" type="sldNum"/>
          </p:nvPr>
        </p:nvSpPr>
        <p:spPr>
          <a:xfrm>
            <a:off x="7006734" y="9691191"/>
            <a:ext cx="453900" cy="8181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6"/>
          <p:cNvSpPr txBox="1"/>
          <p:nvPr>
            <p:ph type="title"/>
          </p:nvPr>
        </p:nvSpPr>
        <p:spPr>
          <a:xfrm>
            <a:off x="257776" y="4469940"/>
            <a:ext cx="7046400" cy="1749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7" name="Google Shape;17;p6"/>
          <p:cNvSpPr txBox="1"/>
          <p:nvPr>
            <p:ph idx="12" type="sldNum"/>
          </p:nvPr>
        </p:nvSpPr>
        <p:spPr>
          <a:xfrm>
            <a:off x="7006734" y="9691191"/>
            <a:ext cx="453900" cy="8181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7"/>
          <p:cNvSpPr txBox="1"/>
          <p:nvPr>
            <p:ph type="title"/>
          </p:nvPr>
        </p:nvSpPr>
        <p:spPr>
          <a:xfrm>
            <a:off x="257776" y="924860"/>
            <a:ext cx="7046400" cy="1190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 name="Google Shape;20;p7"/>
          <p:cNvSpPr txBox="1"/>
          <p:nvPr>
            <p:ph idx="1" type="body"/>
          </p:nvPr>
        </p:nvSpPr>
        <p:spPr>
          <a:xfrm>
            <a:off x="257776" y="2395097"/>
            <a:ext cx="7046400" cy="71001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21" name="Google Shape;21;p7"/>
          <p:cNvSpPr txBox="1"/>
          <p:nvPr>
            <p:ph idx="12" type="sldNum"/>
          </p:nvPr>
        </p:nvSpPr>
        <p:spPr>
          <a:xfrm>
            <a:off x="7006734" y="9691191"/>
            <a:ext cx="453900" cy="8181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8"/>
          <p:cNvSpPr txBox="1"/>
          <p:nvPr>
            <p:ph type="title"/>
          </p:nvPr>
        </p:nvSpPr>
        <p:spPr>
          <a:xfrm>
            <a:off x="257776" y="924860"/>
            <a:ext cx="7046400" cy="1190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8"/>
          <p:cNvSpPr txBox="1"/>
          <p:nvPr>
            <p:ph idx="1" type="body"/>
          </p:nvPr>
        </p:nvSpPr>
        <p:spPr>
          <a:xfrm>
            <a:off x="257776" y="2395097"/>
            <a:ext cx="3307800" cy="71001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5" name="Google Shape;25;p8"/>
          <p:cNvSpPr txBox="1"/>
          <p:nvPr>
            <p:ph idx="2" type="body"/>
          </p:nvPr>
        </p:nvSpPr>
        <p:spPr>
          <a:xfrm>
            <a:off x="3996401" y="2395097"/>
            <a:ext cx="3307800" cy="71001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6" name="Google Shape;26;p8"/>
          <p:cNvSpPr txBox="1"/>
          <p:nvPr>
            <p:ph idx="12" type="sldNum"/>
          </p:nvPr>
        </p:nvSpPr>
        <p:spPr>
          <a:xfrm>
            <a:off x="7006734" y="9691191"/>
            <a:ext cx="453900" cy="8181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9"/>
          <p:cNvSpPr txBox="1"/>
          <p:nvPr>
            <p:ph type="title"/>
          </p:nvPr>
        </p:nvSpPr>
        <p:spPr>
          <a:xfrm>
            <a:off x="257776" y="924860"/>
            <a:ext cx="7046400" cy="1190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9"/>
          <p:cNvSpPr txBox="1"/>
          <p:nvPr>
            <p:ph idx="12" type="sldNum"/>
          </p:nvPr>
        </p:nvSpPr>
        <p:spPr>
          <a:xfrm>
            <a:off x="7006734" y="9691191"/>
            <a:ext cx="453900" cy="8181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10"/>
          <p:cNvSpPr txBox="1"/>
          <p:nvPr>
            <p:ph type="title"/>
          </p:nvPr>
        </p:nvSpPr>
        <p:spPr>
          <a:xfrm>
            <a:off x="257776" y="1154659"/>
            <a:ext cx="2322300" cy="1570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10"/>
          <p:cNvSpPr txBox="1"/>
          <p:nvPr>
            <p:ph idx="1" type="body"/>
          </p:nvPr>
        </p:nvSpPr>
        <p:spPr>
          <a:xfrm>
            <a:off x="257776" y="2887895"/>
            <a:ext cx="2322300" cy="66075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3" name="Google Shape;33;p10"/>
          <p:cNvSpPr txBox="1"/>
          <p:nvPr>
            <p:ph idx="12" type="sldNum"/>
          </p:nvPr>
        </p:nvSpPr>
        <p:spPr>
          <a:xfrm>
            <a:off x="7006734" y="9691191"/>
            <a:ext cx="453900" cy="8181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11"/>
          <p:cNvSpPr txBox="1"/>
          <p:nvPr>
            <p:ph type="title"/>
          </p:nvPr>
        </p:nvSpPr>
        <p:spPr>
          <a:xfrm>
            <a:off x="405437" y="935511"/>
            <a:ext cx="5266200" cy="8501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11"/>
          <p:cNvSpPr txBox="1"/>
          <p:nvPr>
            <p:ph idx="12" type="sldNum"/>
          </p:nvPr>
        </p:nvSpPr>
        <p:spPr>
          <a:xfrm>
            <a:off x="7006734" y="9691191"/>
            <a:ext cx="453900" cy="8181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12"/>
          <p:cNvSpPr/>
          <p:nvPr/>
        </p:nvSpPr>
        <p:spPr>
          <a:xfrm>
            <a:off x="3781050" y="-260"/>
            <a:ext cx="3780900" cy="10689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12"/>
          <p:cNvSpPr txBox="1"/>
          <p:nvPr>
            <p:ph type="title"/>
          </p:nvPr>
        </p:nvSpPr>
        <p:spPr>
          <a:xfrm>
            <a:off x="219569" y="2562809"/>
            <a:ext cx="3345300" cy="3080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12"/>
          <p:cNvSpPr txBox="1"/>
          <p:nvPr>
            <p:ph idx="1" type="subTitle"/>
          </p:nvPr>
        </p:nvSpPr>
        <p:spPr>
          <a:xfrm>
            <a:off x="219569" y="5825407"/>
            <a:ext cx="3345300" cy="2566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12"/>
          <p:cNvSpPr txBox="1"/>
          <p:nvPr>
            <p:ph idx="2" type="body"/>
          </p:nvPr>
        </p:nvSpPr>
        <p:spPr>
          <a:xfrm>
            <a:off x="4084973" y="1504787"/>
            <a:ext cx="3173100" cy="7679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2" name="Google Shape;42;p12"/>
          <p:cNvSpPr txBox="1"/>
          <p:nvPr>
            <p:ph idx="12" type="sldNum"/>
          </p:nvPr>
        </p:nvSpPr>
        <p:spPr>
          <a:xfrm>
            <a:off x="7006734" y="9691191"/>
            <a:ext cx="453900" cy="8181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3"/>
          <p:cNvSpPr txBox="1"/>
          <p:nvPr>
            <p:ph idx="1" type="body"/>
          </p:nvPr>
        </p:nvSpPr>
        <p:spPr>
          <a:xfrm>
            <a:off x="257776" y="8792066"/>
            <a:ext cx="4961100" cy="12576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45" name="Google Shape;45;p13"/>
          <p:cNvSpPr txBox="1"/>
          <p:nvPr>
            <p:ph idx="12" type="sldNum"/>
          </p:nvPr>
        </p:nvSpPr>
        <p:spPr>
          <a:xfrm>
            <a:off x="7006734" y="9691191"/>
            <a:ext cx="453900" cy="8181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4"/>
          <p:cNvSpPr txBox="1"/>
          <p:nvPr>
            <p:ph hasCustomPrompt="1" type="title"/>
          </p:nvPr>
        </p:nvSpPr>
        <p:spPr>
          <a:xfrm>
            <a:off x="257776" y="2298771"/>
            <a:ext cx="7046400" cy="4080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14"/>
          <p:cNvSpPr txBox="1"/>
          <p:nvPr>
            <p:ph idx="1" type="body"/>
          </p:nvPr>
        </p:nvSpPr>
        <p:spPr>
          <a:xfrm>
            <a:off x="257776" y="6551017"/>
            <a:ext cx="7046400" cy="27033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9" name="Google Shape;49;p14"/>
          <p:cNvSpPr txBox="1"/>
          <p:nvPr>
            <p:ph idx="12" type="sldNum"/>
          </p:nvPr>
        </p:nvSpPr>
        <p:spPr>
          <a:xfrm>
            <a:off x="7006734" y="9691191"/>
            <a:ext cx="453900" cy="8181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
          <p:cNvSpPr txBox="1"/>
          <p:nvPr>
            <p:ph type="title"/>
          </p:nvPr>
        </p:nvSpPr>
        <p:spPr>
          <a:xfrm>
            <a:off x="257776" y="924860"/>
            <a:ext cx="7046400" cy="11901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
          <p:cNvSpPr txBox="1"/>
          <p:nvPr>
            <p:ph idx="1" type="body"/>
          </p:nvPr>
        </p:nvSpPr>
        <p:spPr>
          <a:xfrm>
            <a:off x="257776" y="2395097"/>
            <a:ext cx="7046400" cy="71001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
          <p:cNvSpPr txBox="1"/>
          <p:nvPr>
            <p:ph idx="12" type="sldNum"/>
          </p:nvPr>
        </p:nvSpPr>
        <p:spPr>
          <a:xfrm>
            <a:off x="7006734" y="9691191"/>
            <a:ext cx="453900" cy="8181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
          <p:cNvSpPr txBox="1"/>
          <p:nvPr/>
        </p:nvSpPr>
        <p:spPr>
          <a:xfrm>
            <a:off x="4305300" y="1942276"/>
            <a:ext cx="2865600" cy="42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dk1"/>
                </a:solidFill>
                <a:latin typeface="Times New Roman"/>
                <a:ea typeface="Times New Roman"/>
                <a:cs typeface="Times New Roman"/>
                <a:sym typeface="Times New Roman"/>
              </a:rPr>
              <a:t>Jiya Sharma </a:t>
            </a:r>
            <a:endParaRPr b="0" i="0" sz="2000" u="none" cap="none" strike="noStrike">
              <a:solidFill>
                <a:schemeClr val="dk1"/>
              </a:solidFill>
              <a:latin typeface="Times New Roman"/>
              <a:ea typeface="Times New Roman"/>
              <a:cs typeface="Times New Roman"/>
              <a:sym typeface="Times New Roman"/>
            </a:endParaRPr>
          </a:p>
        </p:txBody>
      </p:sp>
      <p:sp>
        <p:nvSpPr>
          <p:cNvPr id="55" name="Google Shape;55;p1"/>
          <p:cNvSpPr txBox="1"/>
          <p:nvPr/>
        </p:nvSpPr>
        <p:spPr>
          <a:xfrm>
            <a:off x="4047540" y="2771032"/>
            <a:ext cx="2337600" cy="42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dk1"/>
                </a:solidFill>
                <a:latin typeface="Times New Roman"/>
                <a:ea typeface="Times New Roman"/>
                <a:cs typeface="Times New Roman"/>
                <a:sym typeface="Times New Roman"/>
              </a:rPr>
              <a:t>25</a:t>
            </a:r>
            <a:endParaRPr b="0" i="0" sz="2200" u="none" cap="none" strike="noStrike">
              <a:solidFill>
                <a:schemeClr val="dk1"/>
              </a:solidFill>
              <a:latin typeface="Times New Roman"/>
              <a:ea typeface="Times New Roman"/>
              <a:cs typeface="Times New Roman"/>
              <a:sym typeface="Times New Roman"/>
            </a:endParaRPr>
          </a:p>
        </p:txBody>
      </p:sp>
      <p:sp>
        <p:nvSpPr>
          <p:cNvPr id="56" name="Google Shape;56;p1"/>
          <p:cNvSpPr txBox="1"/>
          <p:nvPr/>
        </p:nvSpPr>
        <p:spPr>
          <a:xfrm>
            <a:off x="1311925" y="5248575"/>
            <a:ext cx="6021600" cy="20988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900"/>
              <a:buFont typeface="Arial"/>
              <a:buNone/>
            </a:pPr>
            <a:r>
              <a:rPr b="0" i="0" lang="en" sz="1900" u="none" cap="none" strike="noStrike">
                <a:solidFill>
                  <a:schemeClr val="dk1"/>
                </a:solidFill>
                <a:latin typeface="Times New Roman"/>
                <a:ea typeface="Times New Roman"/>
                <a:cs typeface="Times New Roman"/>
                <a:sym typeface="Times New Roman"/>
              </a:rPr>
              <a:t>Jiya is a young professional working as an AI Engineer for a tech company in the GTA. She earned her Master’s in Data Science and quickly found a high-demand job that uses her AI skills. Jiya feels secure in her role, earns a good salary, and has access to training and career growth in the region’s growing tech sector.</a:t>
            </a:r>
            <a:endParaRPr b="0" i="0" sz="2500" u="none" cap="none" strike="noStrike">
              <a:solidFill>
                <a:schemeClr val="dk2"/>
              </a:solidFill>
              <a:latin typeface="Times New Roman"/>
              <a:ea typeface="Times New Roman"/>
              <a:cs typeface="Times New Roman"/>
              <a:sym typeface="Times New Roman"/>
            </a:endParaRPr>
          </a:p>
        </p:txBody>
      </p:sp>
      <p:sp>
        <p:nvSpPr>
          <p:cNvPr id="57" name="Google Shape;57;p1"/>
          <p:cNvSpPr txBox="1"/>
          <p:nvPr/>
        </p:nvSpPr>
        <p:spPr>
          <a:xfrm>
            <a:off x="1311525" y="7638625"/>
            <a:ext cx="6021600" cy="19515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chemeClr val="dk1"/>
              </a:buClr>
              <a:buSzPts val="1100"/>
              <a:buFont typeface="Arial"/>
              <a:buNone/>
            </a:pPr>
            <a:r>
              <a:rPr b="0" i="0" lang="en" sz="1900" u="none" cap="none" strike="noStrike">
                <a:solidFill>
                  <a:srgbClr val="000000"/>
                </a:solidFill>
                <a:latin typeface="Times New Roman"/>
                <a:ea typeface="Times New Roman"/>
                <a:cs typeface="Times New Roman"/>
                <a:sym typeface="Times New Roman"/>
              </a:rPr>
              <a:t>Jiya is looking for ways to keep improving her AI skills, like advanced courses, networking, and leadership programs. She wants housing close to her workplace and support for ongoing learning, so she can stay ahead as AI evolves.</a:t>
            </a:r>
            <a:endParaRPr b="0" i="0" sz="1900" u="none" cap="none" strike="noStrike">
              <a:solidFill>
                <a:srgbClr val="000000"/>
              </a:solidFill>
              <a:latin typeface="Times New Roman"/>
              <a:ea typeface="Times New Roman"/>
              <a:cs typeface="Times New Roman"/>
              <a:sym typeface="Times New Roman"/>
            </a:endParaRPr>
          </a:p>
        </p:txBody>
      </p:sp>
      <p:sp>
        <p:nvSpPr>
          <p:cNvPr id="58" name="Google Shape;58;p1"/>
          <p:cNvSpPr txBox="1"/>
          <p:nvPr/>
        </p:nvSpPr>
        <p:spPr>
          <a:xfrm>
            <a:off x="4712875" y="3599776"/>
            <a:ext cx="2337600" cy="76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Times New Roman"/>
                <a:ea typeface="Times New Roman"/>
                <a:cs typeface="Times New Roman"/>
                <a:sym typeface="Times New Roman"/>
              </a:rPr>
              <a:t>Condo in Downtown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Times New Roman"/>
                <a:ea typeface="Times New Roman"/>
                <a:cs typeface="Times New Roman"/>
                <a:sym typeface="Times New Roman"/>
              </a:rPr>
              <a:t>Oshawa</a:t>
            </a:r>
            <a:endParaRPr b="0" i="0" sz="2000" u="none" cap="none" strike="noStrike">
              <a:solidFill>
                <a:srgbClr val="000000"/>
              </a:solidFill>
              <a:latin typeface="Times New Roman"/>
              <a:ea typeface="Times New Roman"/>
              <a:cs typeface="Times New Roman"/>
              <a:sym typeface="Times New Roman"/>
            </a:endParaRPr>
          </a:p>
        </p:txBody>
      </p:sp>
      <p:pic>
        <p:nvPicPr>
          <p:cNvPr id="59" name="Google Shape;59;p1" title="generated-image (7).png"/>
          <p:cNvPicPr preferRelativeResize="0"/>
          <p:nvPr/>
        </p:nvPicPr>
        <p:blipFill rotWithShape="1">
          <a:blip r:embed="rId4">
            <a:alphaModFix/>
          </a:blip>
          <a:srcRect b="0" l="7785" r="17211" t="0"/>
          <a:stretch/>
        </p:blipFill>
        <p:spPr>
          <a:xfrm>
            <a:off x="309100" y="1797225"/>
            <a:ext cx="2569948" cy="266962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3" name="Shape 63"/>
        <p:cNvGrpSpPr/>
        <p:nvPr/>
      </p:nvGrpSpPr>
      <p:grpSpPr>
        <a:xfrm>
          <a:off x="0" y="0"/>
          <a:ext cx="0" cy="0"/>
          <a:chOff x="0" y="0"/>
          <a:chExt cx="0" cy="0"/>
        </a:xfrm>
      </p:grpSpPr>
      <p:sp>
        <p:nvSpPr>
          <p:cNvPr id="64" name="Google Shape;64;p2"/>
          <p:cNvSpPr txBox="1"/>
          <p:nvPr/>
        </p:nvSpPr>
        <p:spPr>
          <a:xfrm>
            <a:off x="4338200" y="1942271"/>
            <a:ext cx="2908800" cy="42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Times New Roman"/>
                <a:ea typeface="Times New Roman"/>
                <a:cs typeface="Times New Roman"/>
                <a:sym typeface="Times New Roman"/>
              </a:rPr>
              <a:t>Chris Anderson</a:t>
            </a:r>
            <a:endParaRPr b="0" i="0" sz="2000" u="none" cap="none" strike="noStrike">
              <a:solidFill>
                <a:srgbClr val="000000"/>
              </a:solidFill>
              <a:latin typeface="Times New Roman"/>
              <a:ea typeface="Times New Roman"/>
              <a:cs typeface="Times New Roman"/>
              <a:sym typeface="Times New Roman"/>
            </a:endParaRPr>
          </a:p>
        </p:txBody>
      </p:sp>
      <p:sp>
        <p:nvSpPr>
          <p:cNvPr id="65" name="Google Shape;65;p2"/>
          <p:cNvSpPr txBox="1"/>
          <p:nvPr/>
        </p:nvSpPr>
        <p:spPr>
          <a:xfrm>
            <a:off x="4082465" y="2722632"/>
            <a:ext cx="2337600" cy="42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Times New Roman"/>
                <a:ea typeface="Times New Roman"/>
                <a:cs typeface="Times New Roman"/>
                <a:sym typeface="Times New Roman"/>
              </a:rPr>
              <a:t>26</a:t>
            </a:r>
            <a:endParaRPr b="0" i="0" sz="2000" u="none" cap="none" strike="noStrike">
              <a:solidFill>
                <a:srgbClr val="000000"/>
              </a:solidFill>
              <a:latin typeface="Times New Roman"/>
              <a:ea typeface="Times New Roman"/>
              <a:cs typeface="Times New Roman"/>
              <a:sym typeface="Times New Roman"/>
            </a:endParaRPr>
          </a:p>
        </p:txBody>
      </p:sp>
      <p:sp>
        <p:nvSpPr>
          <p:cNvPr id="66" name="Google Shape;66;p2"/>
          <p:cNvSpPr txBox="1"/>
          <p:nvPr/>
        </p:nvSpPr>
        <p:spPr>
          <a:xfrm>
            <a:off x="1536475" y="5196500"/>
            <a:ext cx="5710500" cy="21414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Times New Roman"/>
                <a:ea typeface="Times New Roman"/>
                <a:cs typeface="Times New Roman"/>
                <a:sym typeface="Times New Roman"/>
              </a:rPr>
              <a:t>Chris is a recent graduate working as a supervisor for a logistics company. He has a business degree, but his job is at risk as computers and robots start to handle more tasks. His pay isn’t increasing, and rising rent is making life tough. Chris worries that he might lose his job and doesn't know how to move into a safer, better-paid field.</a:t>
            </a:r>
            <a:endParaRPr b="0" i="0" sz="1900" u="none" cap="none" strike="noStrike">
              <a:solidFill>
                <a:srgbClr val="000000"/>
              </a:solidFill>
              <a:latin typeface="Times New Roman"/>
              <a:ea typeface="Times New Roman"/>
              <a:cs typeface="Times New Roman"/>
              <a:sym typeface="Times New Roman"/>
            </a:endParaRPr>
          </a:p>
        </p:txBody>
      </p:sp>
      <p:sp>
        <p:nvSpPr>
          <p:cNvPr id="67" name="Google Shape;67;p2"/>
          <p:cNvSpPr txBox="1"/>
          <p:nvPr/>
        </p:nvSpPr>
        <p:spPr>
          <a:xfrm>
            <a:off x="1536575" y="7597800"/>
            <a:ext cx="5710500" cy="20067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Times New Roman"/>
                <a:ea typeface="Times New Roman"/>
                <a:cs typeface="Times New Roman"/>
                <a:sym typeface="Times New Roman"/>
              </a:rPr>
              <a:t>Chris wants affordable upskilling options in AI, like basic certificates or introductory classes. He’s looking for guidance to switch careers and for financial help, so he can retrain while working and keep up with living costs.</a:t>
            </a:r>
            <a:endParaRPr b="0" i="0" sz="1900" u="none" cap="none" strike="noStrike">
              <a:solidFill>
                <a:srgbClr val="000000"/>
              </a:solidFill>
              <a:latin typeface="Times New Roman"/>
              <a:ea typeface="Times New Roman"/>
              <a:cs typeface="Times New Roman"/>
              <a:sym typeface="Times New Roman"/>
            </a:endParaRPr>
          </a:p>
        </p:txBody>
      </p:sp>
      <p:sp>
        <p:nvSpPr>
          <p:cNvPr id="68" name="Google Shape;68;p2"/>
          <p:cNvSpPr txBox="1"/>
          <p:nvPr/>
        </p:nvSpPr>
        <p:spPr>
          <a:xfrm>
            <a:off x="4682600" y="3614125"/>
            <a:ext cx="2564400" cy="911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dk1"/>
                </a:solidFill>
                <a:latin typeface="Times New Roman"/>
                <a:ea typeface="Times New Roman"/>
                <a:cs typeface="Times New Roman"/>
                <a:sym typeface="Times New Roman"/>
              </a:rPr>
              <a:t>Basement suite in Ajax, Durham Region</a:t>
            </a:r>
            <a:endParaRPr b="0" i="0" sz="2000" u="none" cap="none" strike="noStrike">
              <a:solidFill>
                <a:schemeClr val="dk2"/>
              </a:solidFill>
              <a:latin typeface="Times New Roman"/>
              <a:ea typeface="Times New Roman"/>
              <a:cs typeface="Times New Roman"/>
              <a:sym typeface="Times New Roman"/>
            </a:endParaRPr>
          </a:p>
        </p:txBody>
      </p:sp>
      <p:pic>
        <p:nvPicPr>
          <p:cNvPr id="69" name="Google Shape;69;p2" title="generated-image (4).png"/>
          <p:cNvPicPr preferRelativeResize="0"/>
          <p:nvPr/>
        </p:nvPicPr>
        <p:blipFill rotWithShape="1">
          <a:blip r:embed="rId4">
            <a:alphaModFix/>
          </a:blip>
          <a:srcRect b="0" l="14644" r="14644" t="0"/>
          <a:stretch/>
        </p:blipFill>
        <p:spPr>
          <a:xfrm>
            <a:off x="311750" y="1866750"/>
            <a:ext cx="2564372" cy="265877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